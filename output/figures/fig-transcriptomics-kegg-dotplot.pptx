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2638425"/>
            <a:ext cx="9144000" cy="2286000"/>
            <a:chOff x="777081" y="2638425"/>
            <a:chExt cx="9144000" cy="2286000"/>
          </a:xfrm>
        </p:grpSpPr>
        <p:sp>
          <p:nvSpPr>
            <p:cNvPr id="3" name="rc3"/>
            <p:cNvSpPr/>
            <p:nvPr/>
          </p:nvSpPr>
          <p:spPr>
            <a:xfrm>
              <a:off x="777081" y="2638425"/>
              <a:ext cx="91440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2638425"/>
              <a:ext cx="91440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696874" y="4459247"/>
              <a:ext cx="7212002" cy="4019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96874" y="4751549"/>
              <a:ext cx="7212002" cy="0"/>
            </a:xfrm>
            <a:custGeom>
              <a:avLst/>
              <a:pathLst>
                <a:path w="7212002" h="0">
                  <a:moveTo>
                    <a:pt x="0" y="0"/>
                  </a:moveTo>
                  <a:lnTo>
                    <a:pt x="7212002" y="0"/>
                  </a:lnTo>
                  <a:lnTo>
                    <a:pt x="72120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96874" y="4568860"/>
              <a:ext cx="7212002" cy="0"/>
            </a:xfrm>
            <a:custGeom>
              <a:avLst/>
              <a:pathLst>
                <a:path w="7212002" h="0">
                  <a:moveTo>
                    <a:pt x="0" y="0"/>
                  </a:moveTo>
                  <a:lnTo>
                    <a:pt x="7212002" y="0"/>
                  </a:lnTo>
                  <a:lnTo>
                    <a:pt x="721200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86650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36277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8590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35530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85157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53478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84410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34037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8366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33290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82916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43254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82170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31796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88142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31049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80676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0303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79929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29556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7918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28809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078436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2806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377689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52731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7694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826569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97619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12582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27544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42507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57470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72432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87395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7023582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17320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32283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472461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62208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771715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921341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07096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20594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370221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519848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669474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819101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8770407" y="4520166"/>
              <a:ext cx="97387" cy="97387"/>
            </a:xfrm>
            <a:prstGeom prst="ellipse">
              <a:avLst/>
            </a:prstGeom>
            <a:solidFill>
              <a:srgbClr val="DF4C3B">
                <a:alpha val="100000"/>
              </a:srgbClr>
            </a:solidFill>
            <a:ln w="6545" cap="rnd">
              <a:solidFill>
                <a:srgbClr val="DF4C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8630142" y="4529527"/>
              <a:ext cx="78665" cy="78665"/>
            </a:xfrm>
            <a:prstGeom prst="ellipse">
              <a:avLst/>
            </a:prstGeom>
            <a:solidFill>
              <a:srgbClr val="7A95C6">
                <a:alpha val="100000"/>
              </a:srgbClr>
            </a:solidFill>
            <a:ln w="6545" cap="rnd">
              <a:solidFill>
                <a:srgbClr val="7A95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472823" y="4521835"/>
              <a:ext cx="94049" cy="94049"/>
            </a:xfrm>
            <a:prstGeom prst="ellipse">
              <a:avLst/>
            </a:prstGeom>
            <a:solidFill>
              <a:srgbClr val="7A96C6">
                <a:alpha val="100000"/>
              </a:srgbClr>
            </a:solidFill>
            <a:ln w="6545" cap="rnd">
              <a:solidFill>
                <a:srgbClr val="7A96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329386" y="4528025"/>
              <a:ext cx="81670" cy="81670"/>
            </a:xfrm>
            <a:prstGeom prst="ellipse">
              <a:avLst/>
            </a:prstGeom>
            <a:solidFill>
              <a:srgbClr val="EA705C">
                <a:alpha val="100000"/>
              </a:srgbClr>
            </a:solidFill>
            <a:ln w="6545" cap="rnd">
              <a:solidFill>
                <a:srgbClr val="EA7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8182580" y="4530846"/>
              <a:ext cx="76027" cy="76027"/>
            </a:xfrm>
            <a:prstGeom prst="ellipse">
              <a:avLst/>
            </a:prstGeom>
            <a:solidFill>
              <a:srgbClr val="EB7360">
                <a:alpha val="100000"/>
              </a:srgbClr>
            </a:solidFill>
            <a:ln w="6545" cap="rnd">
              <a:solidFill>
                <a:srgbClr val="EB73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8010394" y="4508286"/>
              <a:ext cx="121147" cy="121147"/>
            </a:xfrm>
            <a:prstGeom prst="ellipse">
              <a:avLst/>
            </a:prstGeom>
            <a:solidFill>
              <a:srgbClr val="EB7460">
                <a:alpha val="100000"/>
              </a:srgbClr>
            </a:solidFill>
            <a:ln w="6545" cap="rnd">
              <a:solidFill>
                <a:srgbClr val="EB74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7872847" y="4520366"/>
              <a:ext cx="96987" cy="96987"/>
            </a:xfrm>
            <a:prstGeom prst="ellipse">
              <a:avLst/>
            </a:prstGeom>
            <a:solidFill>
              <a:srgbClr val="ED7D69">
                <a:alpha val="100000"/>
              </a:srgbClr>
            </a:solidFill>
            <a:ln w="6545" cap="rnd">
              <a:solidFill>
                <a:srgbClr val="ED7D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7737521" y="4534666"/>
              <a:ext cx="68387" cy="68387"/>
            </a:xfrm>
            <a:prstGeom prst="ellipse">
              <a:avLst/>
            </a:prstGeom>
            <a:solidFill>
              <a:srgbClr val="ED7D6A">
                <a:alpha val="100000"/>
              </a:srgbClr>
            </a:solidFill>
            <a:ln w="6545" cap="rnd">
              <a:solidFill>
                <a:srgbClr val="ED7D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7582357" y="4529129"/>
              <a:ext cx="79461" cy="79461"/>
            </a:xfrm>
            <a:prstGeom prst="ellipse">
              <a:avLst/>
            </a:prstGeom>
            <a:solidFill>
              <a:srgbClr val="8FA4CE">
                <a:alpha val="100000"/>
              </a:srgbClr>
            </a:solidFill>
            <a:ln w="6545" cap="rnd">
              <a:solidFill>
                <a:srgbClr val="8FA4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431981" y="4528379"/>
              <a:ext cx="80961" cy="80961"/>
            </a:xfrm>
            <a:prstGeom prst="ellipse">
              <a:avLst/>
            </a:prstGeom>
            <a:solidFill>
              <a:srgbClr val="8FA5CE">
                <a:alpha val="100000"/>
              </a:srgbClr>
            </a:solidFill>
            <a:ln w="6545" cap="rnd">
              <a:solidFill>
                <a:srgbClr val="8FA5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264914" y="4510940"/>
              <a:ext cx="115840" cy="115840"/>
            </a:xfrm>
            <a:prstGeom prst="ellipse">
              <a:avLst/>
            </a:prstGeom>
            <a:solidFill>
              <a:srgbClr val="90A5CE">
                <a:alpha val="100000"/>
              </a:srgbClr>
            </a:solidFill>
            <a:ln w="6545" cap="rnd">
              <a:solidFill>
                <a:srgbClr val="90A5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131060" y="4526712"/>
              <a:ext cx="84295" cy="84295"/>
            </a:xfrm>
            <a:prstGeom prst="ellipse">
              <a:avLst/>
            </a:prstGeom>
            <a:solidFill>
              <a:srgbClr val="94A8D0">
                <a:alpha val="100000"/>
              </a:srgbClr>
            </a:solidFill>
            <a:ln w="6545" cap="rnd">
              <a:solidFill>
                <a:srgbClr val="94A8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976557" y="4521835"/>
              <a:ext cx="94049" cy="94049"/>
            </a:xfrm>
            <a:prstGeom prst="ellipse">
              <a:avLst/>
            </a:prstGeom>
            <a:solidFill>
              <a:srgbClr val="F18C7A">
                <a:alpha val="100000"/>
              </a:srgbClr>
            </a:solidFill>
            <a:ln w="6545" cap="rnd">
              <a:solidFill>
                <a:srgbClr val="F18C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836965" y="4531870"/>
              <a:ext cx="73980" cy="73980"/>
            </a:xfrm>
            <a:prstGeom prst="ellipse">
              <a:avLst/>
            </a:prstGeom>
            <a:solidFill>
              <a:srgbClr val="96AAD1">
                <a:alpha val="100000"/>
              </a:srgbClr>
            </a:solidFill>
            <a:ln w="6545" cap="rnd">
              <a:solidFill>
                <a:srgbClr val="96AA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687338" y="4531870"/>
              <a:ext cx="73980" cy="73980"/>
            </a:xfrm>
            <a:prstGeom prst="ellipse">
              <a:avLst/>
            </a:prstGeom>
            <a:solidFill>
              <a:srgbClr val="F28E7B">
                <a:alpha val="100000"/>
              </a:srgbClr>
            </a:solidFill>
            <a:ln w="6545" cap="rnd">
              <a:solidFill>
                <a:srgbClr val="F28E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521728" y="4515887"/>
              <a:ext cx="105946" cy="105946"/>
            </a:xfrm>
            <a:prstGeom prst="ellipse">
              <a:avLst/>
            </a:prstGeom>
            <a:solidFill>
              <a:srgbClr val="F28E7C">
                <a:alpha val="100000"/>
              </a:srgbClr>
            </a:solidFill>
            <a:ln w="6545" cap="rnd">
              <a:solidFill>
                <a:srgbClr val="F28E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380928" y="4524713"/>
              <a:ext cx="88294" cy="88294"/>
            </a:xfrm>
            <a:prstGeom prst="ellipse">
              <a:avLst/>
            </a:prstGeom>
            <a:solidFill>
              <a:srgbClr val="F2907E">
                <a:alpha val="100000"/>
              </a:srgbClr>
            </a:solidFill>
            <a:ln w="6545" cap="rnd">
              <a:solidFill>
                <a:srgbClr val="F290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242373" y="4535785"/>
              <a:ext cx="66150" cy="66150"/>
            </a:xfrm>
            <a:prstGeom prst="ellipse">
              <a:avLst/>
            </a:prstGeom>
            <a:solidFill>
              <a:srgbClr val="F2917E">
                <a:alpha val="100000"/>
              </a:srgbClr>
            </a:solidFill>
            <a:ln w="6545" cap="rnd">
              <a:solidFill>
                <a:srgbClr val="F291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095448" y="4538486"/>
              <a:ext cx="60747" cy="60747"/>
            </a:xfrm>
            <a:prstGeom prst="ellipse">
              <a:avLst/>
            </a:prstGeom>
            <a:solidFill>
              <a:srgbClr val="F2917F">
                <a:alpha val="100000"/>
              </a:srgbClr>
            </a:solidFill>
            <a:ln w="6545" cap="rnd">
              <a:solidFill>
                <a:srgbClr val="F291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935715" y="4528379"/>
              <a:ext cx="80961" cy="80961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796195" y="4538486"/>
              <a:ext cx="60747" cy="60747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636829" y="4528747"/>
              <a:ext cx="80226" cy="80226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483709" y="4525253"/>
              <a:ext cx="87213" cy="87213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330019" y="4521190"/>
              <a:ext cx="95339" cy="95339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181037" y="4521835"/>
              <a:ext cx="94049" cy="94049"/>
            </a:xfrm>
            <a:prstGeom prst="ellipse">
              <a:avLst/>
            </a:prstGeom>
            <a:solidFill>
              <a:srgbClr val="F49987">
                <a:alpha val="100000"/>
              </a:srgbClr>
            </a:solidFill>
            <a:ln w="6545" cap="rnd">
              <a:solidFill>
                <a:srgbClr val="F499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031855" y="4522279"/>
              <a:ext cx="93161" cy="93161"/>
            </a:xfrm>
            <a:prstGeom prst="ellipse">
              <a:avLst/>
            </a:prstGeom>
            <a:solidFill>
              <a:srgbClr val="F49C8B">
                <a:alpha val="100000"/>
              </a:srgbClr>
            </a:solidFill>
            <a:ln w="6545" cap="rnd">
              <a:solidFill>
                <a:srgbClr val="F49C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845435" y="4485486"/>
              <a:ext cx="166748" cy="166748"/>
            </a:xfrm>
            <a:prstGeom prst="ellipse">
              <a:avLst/>
            </a:prstGeom>
            <a:solidFill>
              <a:srgbClr val="F6A696">
                <a:alpha val="100000"/>
              </a:srgbClr>
            </a:solidFill>
            <a:ln w="6545" cap="rnd">
              <a:solidFill>
                <a:srgbClr val="F6A6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667505" y="4457182"/>
              <a:ext cx="223355" cy="223355"/>
            </a:xfrm>
            <a:prstGeom prst="ellipse">
              <a:avLst/>
            </a:prstGeom>
            <a:solidFill>
              <a:srgbClr val="F6A797">
                <a:alpha val="100000"/>
              </a:srgbClr>
            </a:solidFill>
            <a:ln w="6545" cap="rnd">
              <a:solidFill>
                <a:srgbClr val="F6A7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626431" y="4708505"/>
              <a:ext cx="86086" cy="86086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471968" y="4703669"/>
              <a:ext cx="95758" cy="95758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6545" cap="rnd">
              <a:solidFill>
                <a:srgbClr val="D730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7730536" y="4710370"/>
              <a:ext cx="82357" cy="82357"/>
            </a:xfrm>
            <a:prstGeom prst="ellipse">
              <a:avLst/>
            </a:prstGeom>
            <a:solidFill>
              <a:srgbClr val="EF826E">
                <a:alpha val="100000"/>
              </a:srgbClr>
            </a:solidFill>
            <a:ln w="6545" cap="rnd">
              <a:solidFill>
                <a:srgbClr val="EF82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23926" y="4702267"/>
              <a:ext cx="98563" cy="98563"/>
            </a:xfrm>
            <a:prstGeom prst="ellipse">
              <a:avLst/>
            </a:prstGeom>
            <a:solidFill>
              <a:srgbClr val="F49988">
                <a:alpha val="100000"/>
              </a:srgbClr>
            </a:solidFill>
            <a:ln w="6545" cap="rnd">
              <a:solidFill>
                <a:srgbClr val="F499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977001" y="4704968"/>
              <a:ext cx="93161" cy="93161"/>
            </a:xfrm>
            <a:prstGeom prst="ellipse">
              <a:avLst/>
            </a:prstGeom>
            <a:solidFill>
              <a:srgbClr val="F39785">
                <a:alpha val="100000"/>
              </a:srgbClr>
            </a:solidFill>
            <a:ln w="6545" cap="rnd">
              <a:solidFill>
                <a:srgbClr val="F397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580082" y="4702075"/>
              <a:ext cx="98947" cy="98947"/>
            </a:xfrm>
            <a:prstGeom prst="ellipse">
              <a:avLst/>
            </a:prstGeom>
            <a:solidFill>
              <a:srgbClr val="E0503F">
                <a:alpha val="100000"/>
              </a:srgbClr>
            </a:solidFill>
            <a:ln w="6545" cap="rnd">
              <a:solidFill>
                <a:srgbClr val="E050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432687" y="4704306"/>
              <a:ext cx="94485" cy="94485"/>
            </a:xfrm>
            <a:prstGeom prst="ellipse">
              <a:avLst/>
            </a:prstGeom>
            <a:solidFill>
              <a:srgbClr val="809AC8">
                <a:alpha val="100000"/>
              </a:srgbClr>
            </a:solidFill>
            <a:ln w="6545" cap="rnd">
              <a:solidFill>
                <a:srgbClr val="80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280639" y="4701885"/>
              <a:ext cx="99327" cy="99327"/>
            </a:xfrm>
            <a:prstGeom prst="ellipse">
              <a:avLst/>
            </a:prstGeom>
            <a:solidFill>
              <a:srgbClr val="859DCA">
                <a:alpha val="100000"/>
              </a:srgbClr>
            </a:solidFill>
            <a:ln w="6545" cap="rnd">
              <a:solidFill>
                <a:srgbClr val="859D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133651" y="4704524"/>
              <a:ext cx="94049" cy="94049"/>
            </a:xfrm>
            <a:prstGeom prst="ellipse">
              <a:avLst/>
            </a:prstGeom>
            <a:solidFill>
              <a:srgbClr val="879FCB">
                <a:alpha val="100000"/>
              </a:srgbClr>
            </a:solidFill>
            <a:ln w="6545" cap="rnd">
              <a:solidFill>
                <a:srgbClr val="879F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985636" y="4706135"/>
              <a:ext cx="90826" cy="90826"/>
            </a:xfrm>
            <a:prstGeom prst="ellipse">
              <a:avLst/>
            </a:prstGeom>
            <a:solidFill>
              <a:srgbClr val="EF816E">
                <a:alpha val="100000"/>
              </a:srgbClr>
            </a:solidFill>
            <a:ln w="6545" cap="rnd">
              <a:solidFill>
                <a:srgbClr val="EF81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35769" y="4705895"/>
              <a:ext cx="91307" cy="91307"/>
            </a:xfrm>
            <a:prstGeom prst="ellipse">
              <a:avLst/>
            </a:prstGeom>
            <a:solidFill>
              <a:srgbClr val="93A7CF">
                <a:alpha val="100000"/>
              </a:srgbClr>
            </a:solidFill>
            <a:ln w="6545" cap="rnd">
              <a:solidFill>
                <a:srgbClr val="93A7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691683" y="4711436"/>
              <a:ext cx="80226" cy="80226"/>
            </a:xfrm>
            <a:prstGeom prst="ellipse">
              <a:avLst/>
            </a:prstGeom>
            <a:solidFill>
              <a:srgbClr val="94A8D0">
                <a:alpha val="100000"/>
              </a:srgbClr>
            </a:solidFill>
            <a:ln w="6545" cap="rnd">
              <a:solidFill>
                <a:srgbClr val="94A8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15556" y="4684935"/>
              <a:ext cx="133227" cy="133227"/>
            </a:xfrm>
            <a:prstGeom prst="ellipse">
              <a:avLst/>
            </a:prstGeom>
            <a:solidFill>
              <a:srgbClr val="F28E7C">
                <a:alpha val="100000"/>
              </a:srgbClr>
            </a:solidFill>
            <a:ln w="6545" cap="rnd">
              <a:solidFill>
                <a:srgbClr val="F28E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386419" y="4705424"/>
              <a:ext cx="92248" cy="92248"/>
            </a:xfrm>
            <a:prstGeom prst="ellipse">
              <a:avLst/>
            </a:prstGeom>
            <a:solidFill>
              <a:srgbClr val="F28F7C">
                <a:alpha val="100000"/>
              </a:srgbClr>
            </a:solidFill>
            <a:ln w="6545" cap="rnd">
              <a:solidFill>
                <a:srgbClr val="F28F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243185" y="4711818"/>
              <a:ext cx="79461" cy="79461"/>
            </a:xfrm>
            <a:prstGeom prst="ellipse">
              <a:avLst/>
            </a:prstGeom>
            <a:solidFill>
              <a:srgbClr val="F28F7D">
                <a:alpha val="100000"/>
              </a:srgbClr>
            </a:solidFill>
            <a:ln w="6545" cap="rnd">
              <a:solidFill>
                <a:srgbClr val="F28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094374" y="4712633"/>
              <a:ext cx="77831" cy="77831"/>
            </a:xfrm>
            <a:prstGeom prst="ellipse">
              <a:avLst/>
            </a:prstGeom>
            <a:solidFill>
              <a:srgbClr val="9AADD2">
                <a:alpha val="100000"/>
              </a:srgbClr>
            </a:solidFill>
            <a:ln w="6545" cap="rnd">
              <a:solidFill>
                <a:srgbClr val="9A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946673" y="4714558"/>
              <a:ext cx="73980" cy="73980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762520" y="4680032"/>
              <a:ext cx="143032" cy="143032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608837" y="4675976"/>
              <a:ext cx="151145" cy="151145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488892" y="4705658"/>
              <a:ext cx="91781" cy="91781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342703" y="4709095"/>
              <a:ext cx="84907" cy="84907"/>
            </a:xfrm>
            <a:prstGeom prst="ellipse">
              <a:avLst/>
            </a:prstGeom>
            <a:solidFill>
              <a:srgbClr val="9CAED3">
                <a:alpha val="100000"/>
              </a:srgbClr>
            </a:solidFill>
            <a:ln w="6545" cap="rnd">
              <a:solidFill>
                <a:srgbClr val="9CAE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198010" y="4714028"/>
              <a:ext cx="75041" cy="75041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044725" y="4710370"/>
              <a:ext cx="82357" cy="82357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890386" y="4705658"/>
              <a:ext cx="91781" cy="91781"/>
            </a:xfrm>
            <a:prstGeom prst="ellipse">
              <a:avLst/>
            </a:prstGeom>
            <a:solidFill>
              <a:srgbClr val="9EB0D4">
                <a:alpha val="100000"/>
              </a:srgbClr>
            </a:solidFill>
            <a:ln w="6545" cap="rnd">
              <a:solidFill>
                <a:srgbClr val="9EB0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740069" y="4704968"/>
              <a:ext cx="93161" cy="93161"/>
            </a:xfrm>
            <a:prstGeom prst="ellipse">
              <a:avLst/>
            </a:prstGeom>
            <a:solidFill>
              <a:srgbClr val="F49B89">
                <a:alpha val="100000"/>
              </a:srgbClr>
            </a:solidFill>
            <a:ln w="6545" cap="rnd">
              <a:solidFill>
                <a:srgbClr val="F49B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696874" y="4459247"/>
              <a:ext cx="7212002" cy="0"/>
            </a:xfrm>
            <a:custGeom>
              <a:avLst/>
              <a:pathLst>
                <a:path w="7212002" h="0">
                  <a:moveTo>
                    <a:pt x="0" y="0"/>
                  </a:moveTo>
                  <a:lnTo>
                    <a:pt x="721200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786650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936277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08590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235530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385157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53478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84410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834037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98366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133290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282916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43254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582170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731796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388142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031049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80676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330303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479929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629556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77918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928809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078436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22806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377689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52731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67694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826569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97619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12582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27544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42507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57470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72432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87395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023582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17320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32283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472461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62208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771715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921341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07096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220594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370221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519848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669474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819101" y="4433942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 rot="-2700000">
              <a:off x="1493591" y="3706190"/>
              <a:ext cx="184461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various nucleotide sugars</a:t>
              </a:r>
            </a:p>
          </p:txBody>
        </p:sp>
        <p:sp>
          <p:nvSpPr>
            <p:cNvPr id="159" name="tx159"/>
            <p:cNvSpPr/>
            <p:nvPr/>
          </p:nvSpPr>
          <p:spPr>
            <a:xfrm rot="-2700000">
              <a:off x="1741160" y="3942643"/>
              <a:ext cx="117582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 metabolism</a:t>
              </a:r>
            </a:p>
          </p:txBody>
        </p:sp>
        <p:sp>
          <p:nvSpPr>
            <p:cNvPr id="160" name="tx160"/>
            <p:cNvSpPr/>
            <p:nvPr/>
          </p:nvSpPr>
          <p:spPr>
            <a:xfrm rot="-2700000">
              <a:off x="1899758" y="3964304"/>
              <a:ext cx="111456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beta-Alanine metabolism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2700000">
              <a:off x="2019148" y="3891305"/>
              <a:ext cx="132103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Cyanoamino acid metabolism</a:t>
              </a:r>
            </a:p>
          </p:txBody>
        </p:sp>
        <p:sp>
          <p:nvSpPr>
            <p:cNvPr id="162" name="tx162"/>
            <p:cNvSpPr/>
            <p:nvPr/>
          </p:nvSpPr>
          <p:spPr>
            <a:xfrm rot="-2700000">
              <a:off x="2185446" y="3931555"/>
              <a:ext cx="120719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Peptidoglycan biosynthesis</a:t>
              </a:r>
            </a:p>
          </p:txBody>
        </p:sp>
        <p:sp>
          <p:nvSpPr>
            <p:cNvPr id="163" name="tx163"/>
            <p:cNvSpPr/>
            <p:nvPr/>
          </p:nvSpPr>
          <p:spPr>
            <a:xfrm rot="-2700000">
              <a:off x="2247241" y="3719509"/>
              <a:ext cx="18069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Nicotinate and nicotinamide metabolism</a:t>
              </a:r>
            </a:p>
          </p:txBody>
        </p:sp>
        <p:sp>
          <p:nvSpPr>
            <p:cNvPr id="164" name="tx164"/>
            <p:cNvSpPr/>
            <p:nvPr/>
          </p:nvSpPr>
          <p:spPr>
            <a:xfrm rot="-2700000">
              <a:off x="2550356" y="4090063"/>
              <a:ext cx="7588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 transporters</a:t>
              </a:r>
            </a:p>
          </p:txBody>
        </p:sp>
        <p:sp>
          <p:nvSpPr>
            <p:cNvPr id="165" name="tx165"/>
            <p:cNvSpPr/>
            <p:nvPr/>
          </p:nvSpPr>
          <p:spPr>
            <a:xfrm rot="-2700000">
              <a:off x="2656944" y="3986158"/>
              <a:ext cx="10527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Two-component system</a:t>
              </a:r>
            </a:p>
          </p:txBody>
        </p:sp>
        <p:sp>
          <p:nvSpPr>
            <p:cNvPr id="166" name="tx166"/>
            <p:cNvSpPr/>
            <p:nvPr/>
          </p:nvSpPr>
          <p:spPr>
            <a:xfrm rot="-2700000">
              <a:off x="2833058" y="4050105"/>
              <a:ext cx="87188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Xylene degradation</a:t>
              </a:r>
            </a:p>
          </p:txBody>
        </p:sp>
        <p:sp>
          <p:nvSpPr>
            <p:cNvPr id="167" name="tx167"/>
            <p:cNvSpPr/>
            <p:nvPr/>
          </p:nvSpPr>
          <p:spPr>
            <a:xfrm rot="-2700000">
              <a:off x="2999504" y="4090710"/>
              <a:ext cx="75703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 degradation</a:t>
              </a:r>
            </a:p>
          </p:txBody>
        </p:sp>
        <p:sp>
          <p:nvSpPr>
            <p:cNvPr id="168" name="tx168"/>
            <p:cNvSpPr/>
            <p:nvPr/>
          </p:nvSpPr>
          <p:spPr>
            <a:xfrm rot="-2700000">
              <a:off x="3126406" y="4035848"/>
              <a:ext cx="9122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Styrene degradation</a:t>
              </a:r>
            </a:p>
          </p:txBody>
        </p:sp>
        <p:sp>
          <p:nvSpPr>
            <p:cNvPr id="169" name="tx169"/>
            <p:cNvSpPr/>
            <p:nvPr/>
          </p:nvSpPr>
          <p:spPr>
            <a:xfrm rot="-2700000">
              <a:off x="3255624" y="3986578"/>
              <a:ext cx="10515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Tryptophan metabolism</a:t>
              </a:r>
            </a:p>
          </p:txBody>
        </p:sp>
        <p:sp>
          <p:nvSpPr>
            <p:cNvPr id="170" name="tx170"/>
            <p:cNvSpPr/>
            <p:nvPr/>
          </p:nvSpPr>
          <p:spPr>
            <a:xfrm rot="-2700000">
              <a:off x="3452428" y="4100473"/>
              <a:ext cx="72941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Quorum sensing</a:t>
              </a:r>
            </a:p>
          </p:txBody>
        </p:sp>
        <p:sp>
          <p:nvSpPr>
            <p:cNvPr id="171" name="tx171"/>
            <p:cNvSpPr/>
            <p:nvPr/>
          </p:nvSpPr>
          <p:spPr>
            <a:xfrm rot="-2700000">
              <a:off x="3507915" y="3873201"/>
              <a:ext cx="13722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Inositol phosphate metabolism</a:t>
              </a:r>
            </a:p>
          </p:txBody>
        </p:sp>
        <p:sp>
          <p:nvSpPr>
            <p:cNvPr id="172" name="tx172"/>
            <p:cNvSpPr/>
            <p:nvPr/>
          </p:nvSpPr>
          <p:spPr>
            <a:xfrm rot="-2700000">
              <a:off x="3673959" y="3912836"/>
              <a:ext cx="126013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Pentose phosphate pathway</a:t>
              </a:r>
            </a:p>
          </p:txBody>
        </p:sp>
        <p:sp>
          <p:nvSpPr>
            <p:cNvPr id="173" name="tx173"/>
            <p:cNvSpPr/>
            <p:nvPr/>
          </p:nvSpPr>
          <p:spPr>
            <a:xfrm rot="-2700000">
              <a:off x="3776904" y="3800137"/>
              <a:ext cx="15788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Pantothenate and CoA biosynthesis</a:t>
              </a:r>
            </a:p>
          </p:txBody>
        </p:sp>
        <p:sp>
          <p:nvSpPr>
            <p:cNvPr id="174" name="tx174"/>
            <p:cNvSpPr/>
            <p:nvPr/>
          </p:nvSpPr>
          <p:spPr>
            <a:xfrm rot="-2700000">
              <a:off x="3882006" y="3692644"/>
              <a:ext cx="18829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degradation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2700000">
              <a:off x="4163119" y="4010081"/>
              <a:ext cx="98508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Benzoate degradation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2700000">
              <a:off x="4218125" y="3781645"/>
              <a:ext cx="16311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Degradation of aromatic compounds</a:t>
              </a:r>
            </a:p>
          </p:txBody>
        </p:sp>
        <p:sp>
          <p:nvSpPr>
            <p:cNvPr id="177" name="tx177"/>
            <p:cNvSpPr/>
            <p:nvPr/>
          </p:nvSpPr>
          <p:spPr>
            <a:xfrm rot="-2700000">
              <a:off x="4469523" y="4027345"/>
              <a:ext cx="93625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chemotaxis</a:t>
              </a:r>
            </a:p>
          </p:txBody>
        </p:sp>
        <p:sp>
          <p:nvSpPr>
            <p:cNvPr id="178" name="tx178"/>
            <p:cNvSpPr/>
            <p:nvPr/>
          </p:nvSpPr>
          <p:spPr>
            <a:xfrm rot="-2700000">
              <a:off x="4626488" y="4045061"/>
              <a:ext cx="8861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Metabolic pathways</a:t>
              </a:r>
            </a:p>
          </p:txBody>
        </p:sp>
        <p:sp>
          <p:nvSpPr>
            <p:cNvPr id="179" name="tx179"/>
            <p:cNvSpPr/>
            <p:nvPr/>
          </p:nvSpPr>
          <p:spPr>
            <a:xfrm rot="-2700000">
              <a:off x="4654591" y="3751676"/>
              <a:ext cx="171596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secondary metabolites</a:t>
              </a:r>
            </a:p>
          </p:txBody>
        </p:sp>
        <p:sp>
          <p:nvSpPr>
            <p:cNvPr id="180" name="tx180"/>
            <p:cNvSpPr/>
            <p:nvPr/>
          </p:nvSpPr>
          <p:spPr>
            <a:xfrm rot="-2700000">
              <a:off x="4882502" y="3940671"/>
              <a:ext cx="11814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secretion system</a:t>
              </a:r>
            </a:p>
          </p:txBody>
        </p:sp>
        <p:sp>
          <p:nvSpPr>
            <p:cNvPr id="181" name="tx181"/>
            <p:cNvSpPr/>
            <p:nvPr/>
          </p:nvSpPr>
          <p:spPr>
            <a:xfrm rot="-2700000">
              <a:off x="4999722" y="3862435"/>
              <a:ext cx="140268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Starch and sucrose metabolism</a:t>
              </a:r>
            </a:p>
          </p:txBody>
        </p:sp>
        <p:sp>
          <p:nvSpPr>
            <p:cNvPr id="182" name="tx182"/>
            <p:cNvSpPr/>
            <p:nvPr/>
          </p:nvSpPr>
          <p:spPr>
            <a:xfrm rot="-2700000">
              <a:off x="5110876" y="3769554"/>
              <a:ext cx="166539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Cysteine and methionine metabolism</a:t>
              </a:r>
            </a:p>
          </p:txBody>
        </p:sp>
        <p:sp>
          <p:nvSpPr>
            <p:cNvPr id="183" name="tx183"/>
            <p:cNvSpPr/>
            <p:nvPr/>
          </p:nvSpPr>
          <p:spPr>
            <a:xfrm rot="-2700000">
              <a:off x="5385254" y="4070731"/>
              <a:ext cx="81354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metabolism</a:t>
              </a:r>
            </a:p>
          </p:txBody>
        </p:sp>
        <p:sp>
          <p:nvSpPr>
            <p:cNvPr id="184" name="tx184"/>
            <p:cNvSpPr/>
            <p:nvPr/>
          </p:nvSpPr>
          <p:spPr>
            <a:xfrm rot="-2700000">
              <a:off x="5514754" y="4022140"/>
              <a:ext cx="95097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biosynthesis</a:t>
              </a:r>
            </a:p>
          </p:txBody>
        </p:sp>
        <p:sp>
          <p:nvSpPr>
            <p:cNvPr id="185" name="tx185"/>
            <p:cNvSpPr/>
            <p:nvPr/>
          </p:nvSpPr>
          <p:spPr>
            <a:xfrm rot="-2700000">
              <a:off x="5653801" y="3996600"/>
              <a:ext cx="102321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Lipoic acid metabolism</a:t>
              </a:r>
            </a:p>
          </p:txBody>
        </p:sp>
        <p:sp>
          <p:nvSpPr>
            <p:cNvPr id="186" name="tx186"/>
            <p:cNvSpPr/>
            <p:nvPr/>
          </p:nvSpPr>
          <p:spPr>
            <a:xfrm rot="-2700000">
              <a:off x="5798232" y="3984057"/>
              <a:ext cx="10586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Propanoate metabolism</a:t>
              </a:r>
            </a:p>
          </p:txBody>
        </p:sp>
        <p:sp>
          <p:nvSpPr>
            <p:cNvPr id="187" name="tx187"/>
            <p:cNvSpPr/>
            <p:nvPr/>
          </p:nvSpPr>
          <p:spPr>
            <a:xfrm rot="-2700000">
              <a:off x="5818876" y="3672665"/>
              <a:ext cx="193944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Chloroalkane and chloroalkene degradation</a:t>
              </a:r>
            </a:p>
          </p:txBody>
        </p:sp>
        <p:sp>
          <p:nvSpPr>
            <p:cNvPr id="188" name="tx188"/>
            <p:cNvSpPr/>
            <p:nvPr/>
          </p:nvSpPr>
          <p:spPr>
            <a:xfrm rot="-2700000">
              <a:off x="6176453" y="4174700"/>
              <a:ext cx="51947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cycle</a:t>
              </a:r>
            </a:p>
          </p:txBody>
        </p:sp>
        <p:sp>
          <p:nvSpPr>
            <p:cNvPr id="189" name="tx189"/>
            <p:cNvSpPr/>
            <p:nvPr/>
          </p:nvSpPr>
          <p:spPr>
            <a:xfrm rot="-2700000">
              <a:off x="6183129" y="3829589"/>
              <a:ext cx="14955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Phosphotransferase system (PTS)</a:t>
              </a:r>
            </a:p>
          </p:txBody>
        </p:sp>
        <p:sp>
          <p:nvSpPr>
            <p:cNvPr id="190" name="tx190"/>
            <p:cNvSpPr/>
            <p:nvPr/>
          </p:nvSpPr>
          <p:spPr>
            <a:xfrm rot="-2700000">
              <a:off x="6429855" y="4064006"/>
              <a:ext cx="83256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Purine metabolism</a:t>
              </a:r>
            </a:p>
          </p:txBody>
        </p:sp>
        <p:sp>
          <p:nvSpPr>
            <p:cNvPr id="191" name="tx191"/>
            <p:cNvSpPr/>
            <p:nvPr/>
          </p:nvSpPr>
          <p:spPr>
            <a:xfrm rot="-2700000">
              <a:off x="6563546" y="4025535"/>
              <a:ext cx="9413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Histidine metabolism</a:t>
              </a:r>
            </a:p>
          </p:txBody>
        </p:sp>
        <p:sp>
          <p:nvSpPr>
            <p:cNvPr id="192" name="tx192"/>
            <p:cNvSpPr/>
            <p:nvPr/>
          </p:nvSpPr>
          <p:spPr>
            <a:xfrm rot="-2700000">
              <a:off x="6683203" y="3953183"/>
              <a:ext cx="114601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D-Amino acid metabolism</a:t>
              </a:r>
            </a:p>
          </p:txBody>
        </p:sp>
        <p:sp>
          <p:nvSpPr>
            <p:cNvPr id="193" name="tx193"/>
            <p:cNvSpPr/>
            <p:nvPr/>
          </p:nvSpPr>
          <p:spPr>
            <a:xfrm rot="-2700000">
              <a:off x="6850881" y="3996762"/>
              <a:ext cx="102275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Pyrimidine metabolism</a:t>
              </a:r>
            </a:p>
          </p:txBody>
        </p:sp>
        <p:sp>
          <p:nvSpPr>
            <p:cNvPr id="194" name="tx194"/>
            <p:cNvSpPr/>
            <p:nvPr/>
          </p:nvSpPr>
          <p:spPr>
            <a:xfrm rot="-2700000">
              <a:off x="7006132" y="4010340"/>
              <a:ext cx="98435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Fatty acid metabolism</a:t>
              </a:r>
            </a:p>
          </p:txBody>
        </p:sp>
        <p:sp>
          <p:nvSpPr>
            <p:cNvPr id="195" name="tx195"/>
            <p:cNvSpPr/>
            <p:nvPr/>
          </p:nvSpPr>
          <p:spPr>
            <a:xfrm rot="-2700000">
              <a:off x="7172176" y="4049975"/>
              <a:ext cx="8722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Carbon metabolism</a:t>
              </a:r>
            </a:p>
          </p:txBody>
        </p:sp>
        <p:sp>
          <p:nvSpPr>
            <p:cNvPr id="196" name="tx196"/>
            <p:cNvSpPr/>
            <p:nvPr/>
          </p:nvSpPr>
          <p:spPr>
            <a:xfrm rot="-2700000">
              <a:off x="7243692" y="3861401"/>
              <a:ext cx="140561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carbon fixation pathways</a:t>
              </a:r>
            </a:p>
          </p:txBody>
        </p:sp>
        <p:sp>
          <p:nvSpPr>
            <p:cNvPr id="197" name="tx197"/>
            <p:cNvSpPr/>
            <p:nvPr/>
          </p:nvSpPr>
          <p:spPr>
            <a:xfrm rot="-2700000">
              <a:off x="7386744" y="3845527"/>
              <a:ext cx="14505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and proline metabolism</a:t>
              </a:r>
            </a:p>
          </p:txBody>
        </p:sp>
        <p:sp>
          <p:nvSpPr>
            <p:cNvPr id="198" name="tx198"/>
            <p:cNvSpPr/>
            <p:nvPr/>
          </p:nvSpPr>
          <p:spPr>
            <a:xfrm rot="-2700000">
              <a:off x="7611950" y="4027992"/>
              <a:ext cx="9344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Nitrogen metabolism</a:t>
              </a:r>
            </a:p>
          </p:txBody>
        </p:sp>
        <p:sp>
          <p:nvSpPr>
            <p:cNvPr id="199" name="tx199"/>
            <p:cNvSpPr/>
            <p:nvPr/>
          </p:nvSpPr>
          <p:spPr>
            <a:xfrm rot="-2700000">
              <a:off x="7625590" y="3699692"/>
              <a:ext cx="18629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Glycine, serine and threonine metabolism</a:t>
              </a:r>
            </a:p>
          </p:txBody>
        </p:sp>
        <p:sp>
          <p:nvSpPr>
            <p:cNvPr id="200" name="tx200"/>
            <p:cNvSpPr/>
            <p:nvPr/>
          </p:nvSpPr>
          <p:spPr>
            <a:xfrm rot="-2700000">
              <a:off x="7867039" y="3921371"/>
              <a:ext cx="12359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amino acids</a:t>
              </a:r>
            </a:p>
          </p:txBody>
        </p:sp>
        <p:sp>
          <p:nvSpPr>
            <p:cNvPr id="201" name="tx201"/>
            <p:cNvSpPr/>
            <p:nvPr/>
          </p:nvSpPr>
          <p:spPr>
            <a:xfrm rot="-2700000">
              <a:off x="7919875" y="3687697"/>
              <a:ext cx="189692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biosynthesis</a:t>
              </a:r>
            </a:p>
          </p:txBody>
        </p:sp>
        <p:sp>
          <p:nvSpPr>
            <p:cNvPr id="202" name="tx202"/>
            <p:cNvSpPr/>
            <p:nvPr/>
          </p:nvSpPr>
          <p:spPr>
            <a:xfrm rot="-2700000">
              <a:off x="8004930" y="3531807"/>
              <a:ext cx="23378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Phenylalanine, tyrosine and tryptophan biosynthesis</a:t>
              </a:r>
            </a:p>
          </p:txBody>
        </p:sp>
        <p:sp>
          <p:nvSpPr>
            <p:cNvPr id="203" name="tx203"/>
            <p:cNvSpPr/>
            <p:nvPr/>
          </p:nvSpPr>
          <p:spPr>
            <a:xfrm rot="-2700000">
              <a:off x="8375068" y="4064168"/>
              <a:ext cx="8321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Flagellar assembly</a:t>
              </a:r>
            </a:p>
          </p:txBody>
        </p:sp>
        <p:sp>
          <p:nvSpPr>
            <p:cNvPr id="204" name="tx204"/>
            <p:cNvSpPr/>
            <p:nvPr/>
          </p:nvSpPr>
          <p:spPr>
            <a:xfrm rot="-2700000">
              <a:off x="8487293" y="3973873"/>
              <a:ext cx="108749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Citrate cycle (TCA cycle)</a:t>
              </a:r>
            </a:p>
          </p:txBody>
        </p:sp>
        <p:sp>
          <p:nvSpPr>
            <p:cNvPr id="205" name="tx205"/>
            <p:cNvSpPr/>
            <p:nvPr/>
          </p:nvSpPr>
          <p:spPr>
            <a:xfrm rot="-2700000">
              <a:off x="8731862" y="4203085"/>
              <a:ext cx="43918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Ribosome</a:t>
              </a:r>
            </a:p>
          </p:txBody>
        </p:sp>
        <p:sp>
          <p:nvSpPr>
            <p:cNvPr id="206" name="pl206"/>
            <p:cNvSpPr/>
            <p:nvPr/>
          </p:nvSpPr>
          <p:spPr>
            <a:xfrm>
              <a:off x="1696874" y="4459247"/>
              <a:ext cx="0" cy="401914"/>
            </a:xfrm>
            <a:custGeom>
              <a:avLst/>
              <a:pathLst>
                <a:path w="0" h="401914">
                  <a:moveTo>
                    <a:pt x="0" y="401914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tx207"/>
            <p:cNvSpPr/>
            <p:nvPr/>
          </p:nvSpPr>
          <p:spPr>
            <a:xfrm>
              <a:off x="840344" y="4706240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132860" y="4521631"/>
              <a:ext cx="51846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9" name="pl209"/>
            <p:cNvSpPr/>
            <p:nvPr/>
          </p:nvSpPr>
          <p:spPr>
            <a:xfrm>
              <a:off x="1671569" y="475154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671569" y="456886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2026-10-14T10:40:11Z</dcterms:modified>
</cp:coreProperties>
</file>