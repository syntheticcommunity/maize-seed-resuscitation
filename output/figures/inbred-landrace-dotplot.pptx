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495425"/>
            <a:ext cx="7315200" cy="4572000"/>
            <a:chOff x="1691481" y="1495425"/>
            <a:chExt cx="7315200" cy="4572000"/>
          </a:xfrm>
        </p:grpSpPr>
        <p:sp>
          <p:nvSpPr>
            <p:cNvPr id="3" name="rc3"/>
            <p:cNvSpPr/>
            <p:nvPr/>
          </p:nvSpPr>
          <p:spPr>
            <a:xfrm>
              <a:off x="1691481" y="1495425"/>
              <a:ext cx="7315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495425"/>
              <a:ext cx="7315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120939" y="1653111"/>
              <a:ext cx="6835131" cy="4115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120939" y="5084729"/>
              <a:ext cx="6835131" cy="0"/>
            </a:xfrm>
            <a:custGeom>
              <a:avLst/>
              <a:pathLst>
                <a:path w="6835131" h="0">
                  <a:moveTo>
                    <a:pt x="0" y="0"/>
                  </a:moveTo>
                  <a:lnTo>
                    <a:pt x="6835131" y="0"/>
                  </a:lnTo>
                  <a:lnTo>
                    <a:pt x="683513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120939" y="4265229"/>
              <a:ext cx="6835131" cy="0"/>
            </a:xfrm>
            <a:custGeom>
              <a:avLst/>
              <a:pathLst>
                <a:path w="6835131" h="0">
                  <a:moveTo>
                    <a:pt x="0" y="0"/>
                  </a:moveTo>
                  <a:lnTo>
                    <a:pt x="6835131" y="0"/>
                  </a:lnTo>
                  <a:lnTo>
                    <a:pt x="683513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20939" y="3517445"/>
              <a:ext cx="6835131" cy="0"/>
            </a:xfrm>
            <a:custGeom>
              <a:avLst/>
              <a:pathLst>
                <a:path w="6835131" h="0">
                  <a:moveTo>
                    <a:pt x="0" y="0"/>
                  </a:moveTo>
                  <a:lnTo>
                    <a:pt x="6835131" y="0"/>
                  </a:lnTo>
                  <a:lnTo>
                    <a:pt x="683513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20939" y="2697946"/>
              <a:ext cx="6835131" cy="0"/>
            </a:xfrm>
            <a:custGeom>
              <a:avLst/>
              <a:pathLst>
                <a:path w="6835131" h="0">
                  <a:moveTo>
                    <a:pt x="0" y="0"/>
                  </a:moveTo>
                  <a:lnTo>
                    <a:pt x="6835131" y="0"/>
                  </a:lnTo>
                  <a:lnTo>
                    <a:pt x="683513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120939" y="1950161"/>
              <a:ext cx="6835131" cy="0"/>
            </a:xfrm>
            <a:custGeom>
              <a:avLst/>
              <a:pathLst>
                <a:path w="6835131" h="0">
                  <a:moveTo>
                    <a:pt x="0" y="0"/>
                  </a:moveTo>
                  <a:lnTo>
                    <a:pt x="6835131" y="0"/>
                  </a:lnTo>
                  <a:lnTo>
                    <a:pt x="683513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255112" y="1653111"/>
              <a:ext cx="0" cy="4115888"/>
            </a:xfrm>
            <a:custGeom>
              <a:avLst/>
              <a:pathLst>
                <a:path w="0" h="4115888">
                  <a:moveTo>
                    <a:pt x="0" y="41158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591416" y="1653111"/>
              <a:ext cx="0" cy="4115888"/>
            </a:xfrm>
            <a:custGeom>
              <a:avLst/>
              <a:pathLst>
                <a:path w="0" h="4115888">
                  <a:moveTo>
                    <a:pt x="0" y="41158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10779" y="1653111"/>
              <a:ext cx="0" cy="4115888"/>
            </a:xfrm>
            <a:custGeom>
              <a:avLst/>
              <a:pathLst>
                <a:path w="0" h="4115888">
                  <a:moveTo>
                    <a:pt x="0" y="41158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147083" y="1653111"/>
              <a:ext cx="0" cy="4115888"/>
            </a:xfrm>
            <a:custGeom>
              <a:avLst/>
              <a:pathLst>
                <a:path w="0" h="4115888">
                  <a:moveTo>
                    <a:pt x="0" y="41158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366446" y="1653111"/>
              <a:ext cx="0" cy="4115888"/>
            </a:xfrm>
            <a:custGeom>
              <a:avLst/>
              <a:pathLst>
                <a:path w="0" h="4115888">
                  <a:moveTo>
                    <a:pt x="0" y="41158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953468" y="3932933"/>
              <a:ext cx="33646" cy="3364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6545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184136" y="3721822"/>
              <a:ext cx="33646" cy="33646"/>
            </a:xfrm>
            <a:prstGeom prst="ellipse">
              <a:avLst/>
            </a:prstGeom>
            <a:solidFill>
              <a:srgbClr val="E9842C">
                <a:alpha val="100000"/>
              </a:srgbClr>
            </a:solidFill>
            <a:ln w="6545" cap="rnd">
              <a:solidFill>
                <a:srgbClr val="E984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6756805" y="3037401"/>
              <a:ext cx="33646" cy="33646"/>
            </a:xfrm>
            <a:prstGeom prst="ellipse">
              <a:avLst/>
            </a:prstGeom>
            <a:solidFill>
              <a:srgbClr val="D69100">
                <a:alpha val="100000"/>
              </a:srgbClr>
            </a:solidFill>
            <a:ln w="6545" cap="rnd">
              <a:solidFill>
                <a:srgbClr val="D69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6688129" y="3037401"/>
              <a:ext cx="33646" cy="33646"/>
            </a:xfrm>
            <a:prstGeom prst="ellipse">
              <a:avLst/>
            </a:prstGeom>
            <a:solidFill>
              <a:srgbClr val="BC9D00">
                <a:alpha val="100000"/>
              </a:srgbClr>
            </a:solidFill>
            <a:ln w="6545" cap="rnd">
              <a:solidFill>
                <a:srgbClr val="BC9D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5739803" y="3597722"/>
              <a:ext cx="33646" cy="33646"/>
            </a:xfrm>
            <a:prstGeom prst="ellipse">
              <a:avLst/>
            </a:prstGeom>
            <a:solidFill>
              <a:srgbClr val="9CA700">
                <a:alpha val="100000"/>
              </a:srgbClr>
            </a:solidFill>
            <a:ln w="6545" cap="rnd">
              <a:solidFill>
                <a:srgbClr val="9CA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7946169" y="2030439"/>
              <a:ext cx="33646" cy="33646"/>
            </a:xfrm>
            <a:prstGeom prst="ellipse">
              <a:avLst/>
            </a:prstGeom>
            <a:solidFill>
              <a:srgbClr val="6FB000">
                <a:alpha val="100000"/>
              </a:srgbClr>
            </a:solidFill>
            <a:ln w="6545" cap="rnd">
              <a:solidFill>
                <a:srgbClr val="6FB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414804" y="5093291"/>
              <a:ext cx="33646" cy="33646"/>
            </a:xfrm>
            <a:prstGeom prst="ellipse">
              <a:avLst/>
            </a:prstGeom>
            <a:solidFill>
              <a:srgbClr val="00B813">
                <a:alpha val="100000"/>
              </a:srgbClr>
            </a:solidFill>
            <a:ln w="6545" cap="rnd">
              <a:solidFill>
                <a:srgbClr val="00B81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414804" y="5565091"/>
              <a:ext cx="33646" cy="33646"/>
            </a:xfrm>
            <a:prstGeom prst="ellipse">
              <a:avLst/>
            </a:prstGeom>
            <a:solidFill>
              <a:srgbClr val="00BD61">
                <a:alpha val="100000"/>
              </a:srgbClr>
            </a:solidFill>
            <a:ln w="6545" cap="rnd">
              <a:solidFill>
                <a:srgbClr val="00BD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184136" y="4469606"/>
              <a:ext cx="33646" cy="33646"/>
            </a:xfrm>
            <a:prstGeom prst="ellipse">
              <a:avLst/>
            </a:prstGeom>
            <a:solidFill>
              <a:srgbClr val="00C08E">
                <a:alpha val="100000"/>
              </a:srgbClr>
            </a:solidFill>
            <a:ln w="6545" cap="rnd">
              <a:solidFill>
                <a:srgbClr val="00C0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261672" y="3560921"/>
              <a:ext cx="33646" cy="33646"/>
            </a:xfrm>
            <a:prstGeom prst="ellipse">
              <a:avLst/>
            </a:prstGeom>
            <a:solidFill>
              <a:srgbClr val="00C0B4">
                <a:alpha val="100000"/>
              </a:srgbClr>
            </a:solidFill>
            <a:ln w="6545" cap="rnd">
              <a:solidFill>
                <a:srgbClr val="00C0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589405" y="3164829"/>
              <a:ext cx="33646" cy="33646"/>
            </a:xfrm>
            <a:prstGeom prst="ellipse">
              <a:avLst/>
            </a:prstGeom>
            <a:solidFill>
              <a:srgbClr val="00BDD4">
                <a:alpha val="100000"/>
              </a:srgbClr>
            </a:solidFill>
            <a:ln w="6545" cap="rnd">
              <a:solidFill>
                <a:srgbClr val="00BD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574593" y="4817306"/>
              <a:ext cx="33646" cy="33646"/>
            </a:xfrm>
            <a:prstGeom prst="ellipse">
              <a:avLst/>
            </a:prstGeom>
            <a:solidFill>
              <a:srgbClr val="00B5EE">
                <a:alpha val="100000"/>
              </a:srgbClr>
            </a:solidFill>
            <a:ln w="6545" cap="rnd">
              <a:solidFill>
                <a:srgbClr val="00B5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574593" y="4069522"/>
              <a:ext cx="33646" cy="33646"/>
            </a:xfrm>
            <a:prstGeom prst="ellipse">
              <a:avLst/>
            </a:prstGeom>
            <a:solidFill>
              <a:srgbClr val="00A7FF">
                <a:alpha val="100000"/>
              </a:srgbClr>
            </a:solidFill>
            <a:ln w="6545" cap="rnd">
              <a:solidFill>
                <a:srgbClr val="00A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8628560" y="1823373"/>
              <a:ext cx="33646" cy="33646"/>
            </a:xfrm>
            <a:prstGeom prst="ellipse">
              <a:avLst/>
            </a:prstGeom>
            <a:solidFill>
              <a:srgbClr val="7F96FF">
                <a:alpha val="100000"/>
              </a:srgbClr>
            </a:solidFill>
            <a:ln w="6545" cap="rnd">
              <a:solidFill>
                <a:srgbClr val="7F9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634167" y="5565091"/>
              <a:ext cx="33646" cy="33646"/>
            </a:xfrm>
            <a:prstGeom prst="ellipse">
              <a:avLst/>
            </a:prstGeom>
            <a:solidFill>
              <a:srgbClr val="BC81FF">
                <a:alpha val="100000"/>
              </a:srgbClr>
            </a:solidFill>
            <a:ln w="6545" cap="rnd">
              <a:solidFill>
                <a:srgbClr val="BC81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74593" y="5565091"/>
              <a:ext cx="33646" cy="33646"/>
            </a:xfrm>
            <a:prstGeom prst="ellipse">
              <a:avLst/>
            </a:prstGeom>
            <a:solidFill>
              <a:srgbClr val="E26EF7">
                <a:alpha val="100000"/>
              </a:srgbClr>
            </a:solidFill>
            <a:ln w="6545" cap="rnd">
              <a:solidFill>
                <a:srgbClr val="E26EF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414804" y="4469606"/>
              <a:ext cx="33646" cy="33646"/>
            </a:xfrm>
            <a:prstGeom prst="ellipse">
              <a:avLst/>
            </a:prstGeom>
            <a:solidFill>
              <a:srgbClr val="F763DF">
                <a:alpha val="100000"/>
              </a:srgbClr>
            </a:solidFill>
            <a:ln w="6545" cap="rnd">
              <a:solidFill>
                <a:srgbClr val="F763D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492133" y="3401908"/>
              <a:ext cx="33646" cy="33646"/>
            </a:xfrm>
            <a:prstGeom prst="ellipse">
              <a:avLst/>
            </a:prstGeom>
            <a:solidFill>
              <a:srgbClr val="FF62BF">
                <a:alpha val="100000"/>
              </a:srgbClr>
            </a:solidFill>
            <a:ln w="6545" cap="rnd">
              <a:solidFill>
                <a:srgbClr val="FF62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6639864" y="3273098"/>
              <a:ext cx="33646" cy="33646"/>
            </a:xfrm>
            <a:prstGeom prst="ellipse">
              <a:avLst/>
            </a:prstGeom>
            <a:solidFill>
              <a:srgbClr val="FF6A9A">
                <a:alpha val="100000"/>
              </a:srgbClr>
            </a:solidFill>
            <a:ln w="6545" cap="rnd">
              <a:solidFill>
                <a:srgbClr val="FF6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431627" y="2109087"/>
              <a:ext cx="6213755" cy="3089426"/>
            </a:xfrm>
            <a:custGeom>
              <a:avLst/>
              <a:pathLst>
                <a:path w="6213755" h="3089426">
                  <a:moveTo>
                    <a:pt x="0" y="3089426"/>
                  </a:moveTo>
                  <a:lnTo>
                    <a:pt x="78655" y="3050320"/>
                  </a:lnTo>
                  <a:lnTo>
                    <a:pt x="157310" y="3011213"/>
                  </a:lnTo>
                  <a:lnTo>
                    <a:pt x="235965" y="2972106"/>
                  </a:lnTo>
                  <a:lnTo>
                    <a:pt x="314620" y="2933000"/>
                  </a:lnTo>
                  <a:lnTo>
                    <a:pt x="393275" y="2893893"/>
                  </a:lnTo>
                  <a:lnTo>
                    <a:pt x="471930" y="2854786"/>
                  </a:lnTo>
                  <a:lnTo>
                    <a:pt x="550585" y="2815680"/>
                  </a:lnTo>
                  <a:lnTo>
                    <a:pt x="629241" y="2776573"/>
                  </a:lnTo>
                  <a:lnTo>
                    <a:pt x="707896" y="2737466"/>
                  </a:lnTo>
                  <a:lnTo>
                    <a:pt x="786551" y="2698360"/>
                  </a:lnTo>
                  <a:lnTo>
                    <a:pt x="865206" y="2659253"/>
                  </a:lnTo>
                  <a:lnTo>
                    <a:pt x="943861" y="2620146"/>
                  </a:lnTo>
                  <a:lnTo>
                    <a:pt x="1022516" y="2581040"/>
                  </a:lnTo>
                  <a:lnTo>
                    <a:pt x="1101171" y="2541933"/>
                  </a:lnTo>
                  <a:lnTo>
                    <a:pt x="1179827" y="2502826"/>
                  </a:lnTo>
                  <a:lnTo>
                    <a:pt x="1258482" y="2463720"/>
                  </a:lnTo>
                  <a:lnTo>
                    <a:pt x="1337137" y="2424613"/>
                  </a:lnTo>
                  <a:lnTo>
                    <a:pt x="1415792" y="2385506"/>
                  </a:lnTo>
                  <a:lnTo>
                    <a:pt x="1494447" y="2346400"/>
                  </a:lnTo>
                  <a:lnTo>
                    <a:pt x="1573102" y="2307293"/>
                  </a:lnTo>
                  <a:lnTo>
                    <a:pt x="1651757" y="2268186"/>
                  </a:lnTo>
                  <a:lnTo>
                    <a:pt x="1730413" y="2229080"/>
                  </a:lnTo>
                  <a:lnTo>
                    <a:pt x="1809068" y="2189973"/>
                  </a:lnTo>
                  <a:lnTo>
                    <a:pt x="1887723" y="2150866"/>
                  </a:lnTo>
                  <a:lnTo>
                    <a:pt x="1966378" y="2111760"/>
                  </a:lnTo>
                  <a:lnTo>
                    <a:pt x="2045033" y="2072653"/>
                  </a:lnTo>
                  <a:lnTo>
                    <a:pt x="2123688" y="2033546"/>
                  </a:lnTo>
                  <a:lnTo>
                    <a:pt x="2202343" y="1994440"/>
                  </a:lnTo>
                  <a:lnTo>
                    <a:pt x="2280999" y="1955333"/>
                  </a:lnTo>
                  <a:lnTo>
                    <a:pt x="2359654" y="1916226"/>
                  </a:lnTo>
                  <a:lnTo>
                    <a:pt x="2438309" y="1877120"/>
                  </a:lnTo>
                  <a:lnTo>
                    <a:pt x="2516964" y="1838013"/>
                  </a:lnTo>
                  <a:lnTo>
                    <a:pt x="2595619" y="1798906"/>
                  </a:lnTo>
                  <a:lnTo>
                    <a:pt x="2674274" y="1759800"/>
                  </a:lnTo>
                  <a:lnTo>
                    <a:pt x="2752929" y="1720693"/>
                  </a:lnTo>
                  <a:lnTo>
                    <a:pt x="2831585" y="1681586"/>
                  </a:lnTo>
                  <a:lnTo>
                    <a:pt x="2910240" y="1642480"/>
                  </a:lnTo>
                  <a:lnTo>
                    <a:pt x="2988895" y="1603373"/>
                  </a:lnTo>
                  <a:lnTo>
                    <a:pt x="3067550" y="1564266"/>
                  </a:lnTo>
                  <a:lnTo>
                    <a:pt x="3146205" y="1525160"/>
                  </a:lnTo>
                  <a:lnTo>
                    <a:pt x="3224860" y="1486053"/>
                  </a:lnTo>
                  <a:lnTo>
                    <a:pt x="3303515" y="1446946"/>
                  </a:lnTo>
                  <a:lnTo>
                    <a:pt x="3382170" y="1407840"/>
                  </a:lnTo>
                  <a:lnTo>
                    <a:pt x="3460826" y="1368733"/>
                  </a:lnTo>
                  <a:lnTo>
                    <a:pt x="3539481" y="1329626"/>
                  </a:lnTo>
                  <a:lnTo>
                    <a:pt x="3618136" y="1290520"/>
                  </a:lnTo>
                  <a:lnTo>
                    <a:pt x="3696791" y="1251413"/>
                  </a:lnTo>
                  <a:lnTo>
                    <a:pt x="3775446" y="1212306"/>
                  </a:lnTo>
                  <a:lnTo>
                    <a:pt x="3854101" y="1173200"/>
                  </a:lnTo>
                  <a:lnTo>
                    <a:pt x="3932756" y="1134093"/>
                  </a:lnTo>
                  <a:lnTo>
                    <a:pt x="4011412" y="1094986"/>
                  </a:lnTo>
                  <a:lnTo>
                    <a:pt x="4090067" y="1055880"/>
                  </a:lnTo>
                  <a:lnTo>
                    <a:pt x="4168722" y="1016773"/>
                  </a:lnTo>
                  <a:lnTo>
                    <a:pt x="4247377" y="977666"/>
                  </a:lnTo>
                  <a:lnTo>
                    <a:pt x="4326032" y="938560"/>
                  </a:lnTo>
                  <a:lnTo>
                    <a:pt x="4404687" y="899453"/>
                  </a:lnTo>
                  <a:lnTo>
                    <a:pt x="4483342" y="860346"/>
                  </a:lnTo>
                  <a:lnTo>
                    <a:pt x="4561998" y="821240"/>
                  </a:lnTo>
                  <a:lnTo>
                    <a:pt x="4640653" y="782133"/>
                  </a:lnTo>
                  <a:lnTo>
                    <a:pt x="4719308" y="743026"/>
                  </a:lnTo>
                  <a:lnTo>
                    <a:pt x="4797963" y="703920"/>
                  </a:lnTo>
                  <a:lnTo>
                    <a:pt x="4876618" y="664813"/>
                  </a:lnTo>
                  <a:lnTo>
                    <a:pt x="4955273" y="625706"/>
                  </a:lnTo>
                  <a:lnTo>
                    <a:pt x="5033928" y="586600"/>
                  </a:lnTo>
                  <a:lnTo>
                    <a:pt x="5112584" y="547493"/>
                  </a:lnTo>
                  <a:lnTo>
                    <a:pt x="5191239" y="508386"/>
                  </a:lnTo>
                  <a:lnTo>
                    <a:pt x="5269894" y="469280"/>
                  </a:lnTo>
                  <a:lnTo>
                    <a:pt x="5348549" y="430173"/>
                  </a:lnTo>
                  <a:lnTo>
                    <a:pt x="5427204" y="391066"/>
                  </a:lnTo>
                  <a:lnTo>
                    <a:pt x="5505859" y="351960"/>
                  </a:lnTo>
                  <a:lnTo>
                    <a:pt x="5584514" y="312853"/>
                  </a:lnTo>
                  <a:lnTo>
                    <a:pt x="5663170" y="273746"/>
                  </a:lnTo>
                  <a:lnTo>
                    <a:pt x="5741825" y="234640"/>
                  </a:lnTo>
                  <a:lnTo>
                    <a:pt x="5820480" y="195533"/>
                  </a:lnTo>
                  <a:lnTo>
                    <a:pt x="5899135" y="156426"/>
                  </a:lnTo>
                  <a:lnTo>
                    <a:pt x="5977790" y="117320"/>
                  </a:lnTo>
                  <a:lnTo>
                    <a:pt x="6056445" y="78213"/>
                  </a:lnTo>
                  <a:lnTo>
                    <a:pt x="6135100" y="39106"/>
                  </a:lnTo>
                  <a:lnTo>
                    <a:pt x="6213755" y="0"/>
                  </a:lnTo>
                </a:path>
              </a:pathLst>
            </a:custGeom>
            <a:ln w="18970" cap="flat">
              <a:solidFill>
                <a:srgbClr val="FF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3562524" y="4006969"/>
              <a:ext cx="53602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8766D">
                      <a:alpha val="100000"/>
                    </a:srgbClr>
                  </a:solidFill>
                  <a:latin typeface="DejaVu Sans"/>
                  <a:cs typeface="DejaVu Sans"/>
                </a:rPr>
                <a:t>Agrobacterium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133362" y="3629578"/>
              <a:ext cx="41157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E9842C">
                      <a:alpha val="100000"/>
                    </a:srgbClr>
                  </a:solidFill>
                  <a:latin typeface="DejaVu Sans"/>
                  <a:cs typeface="DejaVu Sans"/>
                </a:rPr>
                <a:t>Alcaligenes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773396" y="3111180"/>
              <a:ext cx="277063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D69100">
                      <a:alpha val="100000"/>
                    </a:srgbClr>
                  </a:solidFill>
                  <a:latin typeface="DejaVu Sans"/>
                  <a:cs typeface="DejaVu Sans"/>
                </a:rPr>
                <a:t>Bacillus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341441" y="2943601"/>
              <a:ext cx="46113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BC9D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610590" y="3671904"/>
              <a:ext cx="56701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9CA7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799136" y="1937711"/>
              <a:ext cx="46881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6FB000">
                      <a:alpha val="100000"/>
                    </a:srgbClr>
                  </a:solidFill>
                  <a:latin typeface="DejaVu Sans"/>
                  <a:cs typeface="DejaVu Sans"/>
                </a:rPr>
                <a:t>Enterobacter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329150" y="5000753"/>
              <a:ext cx="483260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813">
                      <a:alpha val="100000"/>
                    </a:srgbClr>
                  </a:solidFill>
                  <a:latin typeface="DejaVu Sans"/>
                  <a:cs typeface="DejaVu Sans"/>
                </a:rPr>
                <a:t>Enterococcus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207636" y="5471248"/>
              <a:ext cx="725027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D61">
                      <a:alpha val="100000"/>
                    </a:srgbClr>
                  </a:solidFill>
                  <a:latin typeface="DejaVu Sans"/>
                  <a:cs typeface="DejaVu Sans"/>
                </a:rPr>
                <a:t>Escherichia-Shigella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62881" y="4543167"/>
              <a:ext cx="61273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C08E">
                      <a:alpha val="100000"/>
                    </a:srgbClr>
                  </a:solidFill>
                  <a:latin typeface="DejaVu Sans"/>
                  <a:cs typeface="DejaVu Sans"/>
                </a:rPr>
                <a:t>Exiguobacterium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883163" y="3467805"/>
              <a:ext cx="514715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C0B4">
                      <a:alpha val="100000"/>
                    </a:srgbClr>
                  </a:solidFill>
                  <a:latin typeface="DejaVu Sans"/>
                  <a:cs typeface="DejaVu Sans"/>
                </a:rPr>
                <a:t>Incertae Sedis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198535" y="3090568"/>
              <a:ext cx="344088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DD4">
                      <a:alpha val="100000"/>
                    </a:srgbClr>
                  </a:solidFill>
                  <a:latin typeface="DejaVu Sans"/>
                  <a:cs typeface="DejaVu Sans"/>
                </a:rPr>
                <a:t>Klebsiella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447053" y="4724899"/>
              <a:ext cx="56290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5EE">
                      <a:alpha val="100000"/>
                    </a:srgbClr>
                  </a:solidFill>
                  <a:latin typeface="DejaVu Sans"/>
                  <a:cs typeface="DejaVu Sans"/>
                </a:rPr>
                <a:t>Microbacterium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219945" y="4143008"/>
              <a:ext cx="46817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A7FF">
                      <a:alpha val="100000"/>
                    </a:srgbClr>
                  </a:solidFill>
                  <a:latin typeface="DejaVu Sans"/>
                  <a:cs typeface="DejaVu Sans"/>
                </a:rPr>
                <a:t>Paenibacillus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8363886" y="1896718"/>
              <a:ext cx="29160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7F96FF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94541" y="5639020"/>
              <a:ext cx="436900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BC81FF">
                      <a:alpha val="100000"/>
                    </a:srgbClr>
                  </a:solidFill>
                  <a:latin typeface="DejaVu Sans"/>
                  <a:cs typeface="DejaVu Sans"/>
                </a:rPr>
                <a:t>Phytobacter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597183" y="5471747"/>
              <a:ext cx="266730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E26EF7">
                      <a:alpha val="100000"/>
                    </a:srgbClr>
                  </a:solidFill>
                  <a:latin typeface="DejaVu Sans"/>
                  <a:cs typeface="DejaVu Sans"/>
                </a:rPr>
                <a:t>Priestia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166790" y="4544615"/>
              <a:ext cx="50246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763DF">
                      <a:alpha val="100000"/>
                    </a:srgbClr>
                  </a:solidFill>
                  <a:latin typeface="DejaVu Sans"/>
                  <a:cs typeface="DejaVu Sans"/>
                </a:rPr>
                <a:t>Pseudomonas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5366691" y="3309323"/>
              <a:ext cx="563727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F62BF">
                      <a:alpha val="100000"/>
                    </a:srgbClr>
                  </a:solidFill>
                  <a:latin typeface="DejaVu Sans"/>
                  <a:cs typeface="DejaVu Sans"/>
                </a:rPr>
                <a:t>Staphylococcus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453029" y="3346709"/>
              <a:ext cx="68735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F6A9A">
                      <a:alpha val="100000"/>
                    </a:srgbClr>
                  </a:solidFill>
                  <a:latin typeface="DejaVu Sans"/>
                  <a:cs typeface="DejaVu Sans"/>
                </a:rPr>
                <a:t>Stenotrophomonas</a:t>
              </a:r>
            </a:p>
          </p:txBody>
        </p:sp>
        <p:sp>
          <p:nvSpPr>
            <p:cNvPr id="55" name="pl55"/>
            <p:cNvSpPr/>
            <p:nvPr/>
          </p:nvSpPr>
          <p:spPr>
            <a:xfrm>
              <a:off x="2120939" y="1653111"/>
              <a:ext cx="0" cy="4115888"/>
            </a:xfrm>
            <a:custGeom>
              <a:avLst/>
              <a:pathLst>
                <a:path w="0" h="4115888">
                  <a:moveTo>
                    <a:pt x="0" y="4115888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1913816" y="5047696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0.3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913816" y="4228196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913816" y="3480412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3.0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849167" y="2660912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10.0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849167" y="1913128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30.0</a:t>
              </a:r>
            </a:p>
          </p:txBody>
        </p:sp>
        <p:sp>
          <p:nvSpPr>
            <p:cNvPr id="61" name="pl61"/>
            <p:cNvSpPr/>
            <p:nvPr/>
          </p:nvSpPr>
          <p:spPr>
            <a:xfrm>
              <a:off x="2095634" y="508472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095634" y="426522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095634" y="351744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095634" y="269794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095634" y="195016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120939" y="5769000"/>
              <a:ext cx="6835131" cy="0"/>
            </a:xfrm>
            <a:custGeom>
              <a:avLst/>
              <a:pathLst>
                <a:path w="6835131" h="0">
                  <a:moveTo>
                    <a:pt x="0" y="0"/>
                  </a:moveTo>
                  <a:lnTo>
                    <a:pt x="68351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5112" y="57690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591416" y="57690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810779" y="57690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7147083" y="57690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366446" y="57690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3174325" y="5814549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0.3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4510629" y="5814549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5729992" y="5814549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3.0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033972" y="5814549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8253335" y="5814549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30.0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547524" y="5935043"/>
              <a:ext cx="1981962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Inbred line relative abundance (%)</a:t>
              </a:r>
            </a:p>
          </p:txBody>
        </p:sp>
        <p:sp>
          <p:nvSpPr>
            <p:cNvPr id="78" name="tx78"/>
            <p:cNvSpPr/>
            <p:nvPr/>
          </p:nvSpPr>
          <p:spPr>
            <a:xfrm rot="-5400000">
              <a:off x="807324" y="3669404"/>
              <a:ext cx="190222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Landrace relative abundance (%)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674900" y="1557922"/>
              <a:ext cx="1727210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Spearman r = 0.86, P &lt; 0.001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2026-10-14T10:39:00Z</dcterms:modified>
</cp:coreProperties>
</file>